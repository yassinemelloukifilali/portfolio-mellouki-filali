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6256000" cy="9144000"/>
  <p:notesSz cx="9144000" cy="16256000"/>
  <p:embeddedFontLst>
    <p:embeddedFont>
      <p:font typeface="Quattrocento Sans" charset="-122" pitchFamily="34"/>
      <p:regular r:id="rId25"/>
    </p:embeddedFont>
    <p:embeddedFont>
      <p:font typeface="Liter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ystemsandteams.com/understanding-six-sigma-methodology-in-2025" TargetMode="External"/><Relationship Id="rId2" Type="http://schemas.openxmlformats.org/officeDocument/2006/relationships/hyperlink" Target="https://leanexcellence.ca/lean-six-sigma-certification-guide-roi-benefit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6sigma.us/lean-waste/timwoods-8-waste-of-lean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6sigmacertificationonline.com/what-is-dmaic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6sigmacertificationonline.com/what-is-dmaic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illanova.edu/university/professional-studies/about/news-events/2025/0425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illanova.edu/university/professional-studies/about/news-events/2025/0425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6sigmacertificationonline.com/what-is-dmaic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aevoinnovate.com/strategy/continuous-improvement-tool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kaizen.com/insights/understanding-lean-six-sigma-belts/" TargetMode="External"/><Relationship Id="rId2" Type="http://schemas.openxmlformats.org/officeDocument/2006/relationships/hyperlink" Target="https://www.utsa.edu/pace/news/lean-six-sigma-explained-which-belt-level-right-for-you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leanexcellence.ca/lean-six-sigma-certification-guide-roi-benefits/" TargetMode="External"/><Relationship Id="rId2" Type="http://schemas.openxmlformats.org/officeDocument/2006/relationships/hyperlink" Target="https://www.jrgpartners.com/5-industries-lean-six-sigma-2025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gtmiipqfkyka/mnt/agents/output/lean-six-sigma/images/6_Robotic_arms_assembling_cars_in_a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2E2E">
                  <a:alpha val="60000"/>
                </a:srgbClr>
              </a:gs>
              <a:gs pos="50000">
                <a:srgbClr val="0F2E2E">
                  <a:alpha val="87000"/>
                </a:srgbClr>
              </a:gs>
              <a:gs pos="100000">
                <a:srgbClr val="0F2E2E"/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3000" y="3365500"/>
            <a:ext cx="1270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619500"/>
            <a:ext cx="1270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LEAN SIX SIGMA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13000" y="4699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spc="100" kern="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L'Excellence Opérationnelle par la Réduction du Gaspillage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spc="100" kern="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 la Maîtrise de la Variation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5969000"/>
            <a:ext cx="254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6159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FFFFFF">
                    <a:alpha val="5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0B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2540000" cy="25400"/>
          </a:xfrm>
          <a:prstGeom prst="rect">
            <a:avLst/>
          </a:prstGeom>
          <a:solidFill>
            <a:srgbClr val="0B3D3D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159000"/>
            <a:ext cx="3302000" cy="53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2413000"/>
            <a:ext cx="2794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429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au Lean Six Sigma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44450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Fondements, principes et objectifs de la méthodologie d'excellence opérationnelle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8000" y="2159000"/>
            <a:ext cx="3302000" cy="53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413000"/>
            <a:ext cx="2794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429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Méthodologie DMAIC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44450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cadre structuré en 5 phases pour résoudre les problèmes et améliorer les processus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74000" y="2159000"/>
            <a:ext cx="3302000" cy="53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0" y="2413000"/>
            <a:ext cx="2794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0" y="3429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Outils Clés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0" y="44450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L'arsenal méthodologique pour identifier, analyser et éliminer les problèmes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30000" y="2159000"/>
            <a:ext cx="3302000" cy="53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84000" y="2413000"/>
            <a:ext cx="2794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84000" y="3429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Certification &amp;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684000" y="4445000"/>
            <a:ext cx="279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Niveaux de certification, retours sur investissement et applications sectorielles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gtmiipqfkyka/mnt/agents/output/lean-six-sigma/images/10_Free_Team_strategy_meeting_Image.png">    </p:cNvPr>
          <p:cNvPicPr>
            <a:picLocks noChangeAspect="1"/>
          </p:cNvPicPr>
          <p:nvPr/>
        </p:nvPicPr>
        <p:blipFill>
          <a:blip r:embed="rId1"/>
          <a:srcRect l="183" r="18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2E2E"/>
              </a:gs>
              <a:gs pos="60000">
                <a:srgbClr val="0F2E2E">
                  <a:alpha val="93000"/>
                </a:srgbClr>
              </a:gs>
              <a:gs pos="100000">
                <a:srgbClr val="0F2E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>
                    <a:alpha val="9412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762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au Lean Six Sigma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Comprendre les fondements, les principes et les objectifs de la méthodologie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0B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Qu'est-ce que le Lean Six Sigma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2540000" cy="25400"/>
          </a:xfrm>
          <a:prstGeom prst="rect">
            <a:avLst/>
          </a:prstGeom>
          <a:solidFill>
            <a:srgbClr val="0B3D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905000"/>
            <a:ext cx="812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Lean Six Sigma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est une méthodologie d'amélioration des processus qui combine deux approches complémentaires 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B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Lean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élimination du gaspillage et optimisation du flux de valeur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0B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Sigma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réduction de la variation et des défauts via l'analyse statistique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Né chez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Motorola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dans les années 1980, popularisé par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 Electric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qui a économisé plus de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13,9 milliards $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 une décennie. Aujourd'hui appliqué dans la santé, la finance, la logistique, l'IT et le gouvernement.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98000" y="1905000"/>
            <a:ext cx="6096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0" y="2032000"/>
            <a:ext cx="254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8A26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3.4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652000" y="3048000"/>
            <a:ext cx="558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défauts par million d'opportunités (niveau 6σ)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98000" y="3810000"/>
            <a:ext cx="6096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52000" y="3937000"/>
            <a:ext cx="3556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8A26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13.9B$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9652000" y="4953000"/>
            <a:ext cx="558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économies réalisées par GE en 10 ans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98000" y="5715000"/>
            <a:ext cx="6096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52000" y="5842000"/>
            <a:ext cx="381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8A26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243 838$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9652000" y="6858000"/>
            <a:ext cx="558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économie moyenne par projet (3 000 projets analysés)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2000" y="7620000"/>
            <a:ext cx="812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 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Systems and Teams 2025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Lean Excellence 2024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0B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 8 Gaspillages : Le Framework TIMWOODS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2540000" cy="25400"/>
          </a:xfrm>
          <a:prstGeom prst="rect">
            <a:avLst/>
          </a:prstGeom>
          <a:solidFill>
            <a:srgbClr val="0B3D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Toute action ou étape qui n'ajoute pas de valeur pour le client est un gaspillage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" y="25400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26035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3238500"/>
            <a:ext cx="3111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Déplacements inutiles de matériaux, outils ou équipements. Risque de dommages et coûts superflus.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0" y="2413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9000" y="25400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24500" y="26035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Inventaire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9000" y="3238500"/>
            <a:ext cx="3111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 excessif de matières premières, encours ou produits finis. Coûts de stockage élevés.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5000" y="2413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5500" y="25400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71000" y="26035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Mouvement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45500" y="3238500"/>
            <a:ext cx="3111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Gestes superflus des opérateurs : chercher des outils, marcher, se pencher inutilement.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001500" y="2413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92000" y="2540000"/>
            <a:ext cx="88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08000" y="2603500"/>
            <a:ext cx="2095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0" y="3238500"/>
            <a:ext cx="3111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Temps mort dû à des pannes, des retards de matériaux ou des instructions manquantes.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334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2500" y="54610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78000" y="55245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Surproduction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2500" y="6159500"/>
            <a:ext cx="3111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Produire plus que la demande ou trop tôt. La "mère de tous les gaspillages".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08500" y="5334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9000" y="54610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24500" y="55245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Surtraitement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99000" y="6159500"/>
            <a:ext cx="3111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Faire plus de travail que nécessaire. Tolérances excessives, fonctionnalités non demandées.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55000" y="5334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5500" y="54610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71000" y="55245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Défauts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45500" y="6032500"/>
            <a:ext cx="3111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Produits non conformes entraînant rebuts, reprises et insatisfaction client.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001500" y="5334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192000" y="5461000"/>
            <a:ext cx="69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A2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017500" y="55245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Talents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192000" y="6159500"/>
            <a:ext cx="3111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 et créativité des employés sous-utilisées. Le gaspillage silencieux.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2000" y="8255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6sigma.us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gtmiipqfkyka/mnt/agents/output/lean-six-sigma/images/4_Close_up_of_mechanical_gears_highlighting.png">    </p:cNvPr>
          <p:cNvPicPr>
            <a:picLocks noChangeAspect="1"/>
          </p:cNvPicPr>
          <p:nvPr/>
        </p:nvPicPr>
        <p:blipFill>
          <a:blip r:embed="rId1"/>
          <a:srcRect l="180" r="18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2E2E"/>
              </a:gs>
              <a:gs pos="60000">
                <a:srgbClr val="0F2E2E">
                  <a:alpha val="93000"/>
                </a:srgbClr>
              </a:gs>
              <a:gs pos="100000">
                <a:srgbClr val="0F2E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>
                    <a:alpha val="9412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762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Méthodologie DMAIC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cadre structuré en 5 phases pour résoudre les problèmes et améliorer les processus existants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5969000"/>
            <a:ext cx="14732000" cy="1016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016000" y="6096000"/>
            <a:ext cx="2540000" cy="7620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609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683000" y="6413500"/>
            <a:ext cx="508000" cy="0"/>
          </a:xfrm>
          <a:prstGeom prst="straightConnector1">
            <a:avLst/>
          </a:prstGeom>
          <a:noFill/>
          <a:ln w="25400">
            <a:solidFill>
              <a:srgbClr val="C8A265"/>
            </a:solidFill>
            <a:prstDash val="solid"/>
            <a:headEnd type="none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4318000" y="6096000"/>
            <a:ext cx="2540000" cy="7620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13" name="Text 10"/>
          <p:cNvSpPr/>
          <p:nvPr/>
        </p:nvSpPr>
        <p:spPr>
          <a:xfrm>
            <a:off x="4318000" y="609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985000" y="6413500"/>
            <a:ext cx="508000" cy="0"/>
          </a:xfrm>
          <a:prstGeom prst="straightConnector1">
            <a:avLst/>
          </a:prstGeom>
          <a:noFill/>
          <a:ln w="25400">
            <a:solidFill>
              <a:srgbClr val="C8A265"/>
            </a:solidFill>
            <a:prstDash val="solid"/>
            <a:headEnd type="none"/>
            <a:tailEnd type="arrow"/>
          </a:ln>
        </p:spPr>
      </p:sp>
      <p:sp>
        <p:nvSpPr>
          <p:cNvPr id="15" name="Shape 12"/>
          <p:cNvSpPr/>
          <p:nvPr/>
        </p:nvSpPr>
        <p:spPr>
          <a:xfrm>
            <a:off x="7620000" y="6096000"/>
            <a:ext cx="2540000" cy="7620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16" name="Text 13"/>
          <p:cNvSpPr/>
          <p:nvPr/>
        </p:nvSpPr>
        <p:spPr>
          <a:xfrm>
            <a:off x="7620000" y="609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287000" y="6413500"/>
            <a:ext cx="508000" cy="0"/>
          </a:xfrm>
          <a:prstGeom prst="straightConnector1">
            <a:avLst/>
          </a:prstGeom>
          <a:noFill/>
          <a:ln w="25400">
            <a:solidFill>
              <a:srgbClr val="C8A265"/>
            </a:solidFill>
            <a:prstDash val="solid"/>
            <a:headEnd type="none"/>
            <a:tailEnd type="arrow"/>
          </a:ln>
        </p:spPr>
      </p:sp>
      <p:sp>
        <p:nvSpPr>
          <p:cNvPr id="18" name="Shape 15"/>
          <p:cNvSpPr/>
          <p:nvPr/>
        </p:nvSpPr>
        <p:spPr>
          <a:xfrm>
            <a:off x="10922000" y="6096000"/>
            <a:ext cx="2540000" cy="7620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19" name="Text 16"/>
          <p:cNvSpPr/>
          <p:nvPr/>
        </p:nvSpPr>
        <p:spPr>
          <a:xfrm>
            <a:off x="10922000" y="609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3589000" y="6413500"/>
            <a:ext cx="508000" cy="0"/>
          </a:xfrm>
          <a:prstGeom prst="straightConnector1">
            <a:avLst/>
          </a:prstGeom>
          <a:noFill/>
          <a:ln w="25400">
            <a:solidFill>
              <a:srgbClr val="C8A265"/>
            </a:solidFill>
            <a:prstDash val="solid"/>
            <a:headEnd type="none"/>
            <a:tailEnd type="arrow"/>
          </a:ln>
        </p:spPr>
      </p:sp>
      <p:sp>
        <p:nvSpPr>
          <p:cNvPr id="21" name="Shape 18"/>
          <p:cNvSpPr/>
          <p:nvPr/>
        </p:nvSpPr>
        <p:spPr>
          <a:xfrm>
            <a:off x="14097000" y="6096000"/>
            <a:ext cx="1270000" cy="7620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22" name="Text 19"/>
          <p:cNvSpPr/>
          <p:nvPr/>
        </p:nvSpPr>
        <p:spPr>
          <a:xfrm>
            <a:off x="14097000" y="6096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0B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DEFINE — Définir le Problème et les Objectifs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2540000" cy="25400"/>
          </a:xfrm>
          <a:prstGeom prst="rect">
            <a:avLst/>
          </a:prstGeom>
          <a:solidFill>
            <a:srgbClr val="0B3D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905000"/>
            <a:ext cx="8128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phase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établit la fondation du projet. Sans une définition claire du problème, aucune amélioration n'est possible.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Activités clés 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Création de la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charte projet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définition du périmètre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Énoncé du problème et des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 mesurables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Collecte de la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Voix du Client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(VOC)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Cartographie haut niveau du processus (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SIPOC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Assemblage de l'équipe projet et identification des parties prenantes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 concret :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 service gouvernemental définit le problème "délai de traitement des permis = 38 jours" avec objectif de réduction à 15 jours.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98000" y="1905000"/>
            <a:ext cx="60960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0" y="2095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LIVRABLES DE LA PHASE DEFINE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52000" y="2540000"/>
            <a:ext cx="5080000" cy="12700"/>
          </a:xfrm>
          <a:prstGeom prst="rect">
            <a:avLst/>
          </a:prstGeom>
          <a:solidFill>
            <a:srgbClr val="D6D2CC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0" y="2730500"/>
            <a:ext cx="558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Charte projet signée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Problème et objectifs quantifiés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Cartographie SIPOC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Exigences clients identifiées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Équipe et rôles définis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Planning du projet établi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0"/>
            <a:ext cx="812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6SigmaCertificationOnline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0B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MEASURE — Quantifier la Performance Actuelle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2540000" cy="25400"/>
          </a:xfrm>
          <a:prstGeom prst="rect">
            <a:avLst/>
          </a:prstGeom>
          <a:solidFill>
            <a:srgbClr val="0B3D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905000"/>
            <a:ext cx="8128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phase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établit une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ligne de base mesurable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pour quantifier les améliorations futures. Les données objectives remplacent les opinions.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Activités clés 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Sélection des métriques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CTQ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(Critical to Quality)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Collecte de données fiables et pertinentes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Validation du système de mesure (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MSA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Cartographie détaillée du processus actuel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Calcul de la performance baseline (temps de cycle, taux d'erreur, coût)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Principe fondamental :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Sans mesure précise, impossible de prouver l'impact des changements.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98000" y="1905000"/>
            <a:ext cx="60960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0" y="2095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LIVRABLES DE LA PHASE MEASURE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52000" y="2540000"/>
            <a:ext cx="5080000" cy="12700"/>
          </a:xfrm>
          <a:prstGeom prst="rect">
            <a:avLst/>
          </a:prstGeom>
          <a:solidFill>
            <a:srgbClr val="D6D2CC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0" y="2730500"/>
            <a:ext cx="558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Métriques CTQ définies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Données collectées et validées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Analyse MSA complétée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Cartographie processus détaillée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Performance baseline établie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Capacité du processus mesurée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0"/>
            <a:ext cx="812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6SigmaCertificationOnline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0B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ANALYZE — Identifier les Causes Racines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2540000" cy="25400"/>
          </a:xfrm>
          <a:prstGeom prst="rect">
            <a:avLst/>
          </a:prstGeom>
          <a:solidFill>
            <a:srgbClr val="0B3D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905000"/>
            <a:ext cx="812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phase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utilise des outils statistiques pour identifier les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véritables causes racines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(et non les symptômes).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Outils clés 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Diagramme d'Ishikawa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(arête de poisson) — 6M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 5 Pourquoi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creuser jusqu'à la cause racine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Diagramme de Pareto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principe 80/20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d'hypothèse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analyse de régression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 :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Séparer les causes vitales des causes triviales pour cibler les efforts là où l'impact sera maximal.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98000" y="1905000"/>
            <a:ext cx="60960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0" y="2095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LIVRABLES DE LA PHASE ANALYZE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52000" y="2540000"/>
            <a:ext cx="5080000" cy="12700"/>
          </a:xfrm>
          <a:prstGeom prst="rect">
            <a:avLst/>
          </a:prstGeom>
          <a:solidFill>
            <a:srgbClr val="D6D2CC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0" y="2730500"/>
            <a:ext cx="558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Causes racines validées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Analyse statistique complète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Diagrammes Ishikawa / Pareto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Rapport d'analyse des données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Liste des causes vitales (Vital Few)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Hypothèses testées et confirmées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0"/>
            <a:ext cx="812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Villanova University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0B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IMPROVE — Développer et Tester les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2540000" cy="25400"/>
          </a:xfrm>
          <a:prstGeom prst="rect">
            <a:avLst/>
          </a:prstGeom>
          <a:solidFill>
            <a:srgbClr val="0B3D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905000"/>
            <a:ext cx="812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phase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transforme l'analyse en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concrète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C'est la phase la plus créative du DMAIC.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Activités clés 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Brainstorming et évaluation des solutions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Expérimentations pilotes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à petite échelle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coût-bénéfice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 options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FMEA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pour évaluer les risques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Implémentation des changements validés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Principe :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Les meilleures solutions sont efficaces, pratiques et durables.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98000" y="1905000"/>
            <a:ext cx="60960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0" y="2095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LIVRABLES DE LA PHASE IMPROVE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52000" y="2540000"/>
            <a:ext cx="5080000" cy="12700"/>
          </a:xfrm>
          <a:prstGeom prst="rect">
            <a:avLst/>
          </a:prstGeom>
          <a:solidFill>
            <a:srgbClr val="D6D2CC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0" y="2730500"/>
            <a:ext cx="558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Solutions sélectionnées et testées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Résultats des pilotes documentés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Analyse FMEA complétée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Plan d'implémentation détaillé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Nouveau processus cartographié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Validation des gains mesurés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0"/>
            <a:ext cx="812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Villanova University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0B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CONTROL — Maintenir les Gains sur le Long Terme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2540000" cy="25400"/>
          </a:xfrm>
          <a:prstGeom prst="rect">
            <a:avLst/>
          </a:prstGeom>
          <a:solidFill>
            <a:srgbClr val="0B3D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905000"/>
            <a:ext cx="8128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phase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garantit que les améliorations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perdurent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après le départ de l'équipe projet. Le contrôle est l'assurance-vie des gains réalisés.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Activités clés 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Création / mise à jour des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procédures standard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(SOP)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Développement de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tableaux de bord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cartes de contrôle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Formation des opérateurs et documentation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Transfert formel au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propriétaire du processus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Plan de réponse aux écarts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Rappel :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Sans contrôle, les processus régressent inexorablement vers leur état antérieur.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98000" y="1905000"/>
            <a:ext cx="60960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0" y="2095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LIVRABLES DE LA PHASE CONTROL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52000" y="2540000"/>
            <a:ext cx="5080000" cy="12700"/>
          </a:xfrm>
          <a:prstGeom prst="rect">
            <a:avLst/>
          </a:prstGeom>
          <a:solidFill>
            <a:srgbClr val="D6D2CC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0" y="2730500"/>
            <a:ext cx="558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SOP mises à jour et validées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Tableaux de bord opérationnels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Cartes de contrôle en place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Formation du personnel complétée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Plan de réponse aux écarts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Transfert au process owner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0"/>
            <a:ext cx="812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6SigmaCertificationOnline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gtmiipqfkyka/mnt/agents/output/lean-six-sigma/images/2_108_711_Modern_Factory_Production.png">    </p:cNvPr>
          <p:cNvPicPr>
            <a:picLocks noChangeAspect="1"/>
          </p:cNvPicPr>
          <p:nvPr/>
        </p:nvPicPr>
        <p:blipFill>
          <a:blip r:embed="rId1"/>
          <a:srcRect l="0" r="0" t="3594" b="359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2E2E"/>
              </a:gs>
              <a:gs pos="60000">
                <a:srgbClr val="0F2E2E">
                  <a:alpha val="93000"/>
                </a:srgbClr>
              </a:gs>
              <a:gs pos="100000">
                <a:srgbClr val="0F2E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>
                    <a:alpha val="9412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762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Outils Clés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L'arsenal méthodologique pour identifier, analyser et éliminer les problèmes de processus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0B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 5S, Kaizen, Pareto et Ishikawa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2540000" cy="25400"/>
          </a:xfrm>
          <a:prstGeom prst="rect">
            <a:avLst/>
          </a:prstGeom>
          <a:solidFill>
            <a:srgbClr val="0B3D3D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0"/>
                </a:moveTo>
                <a:lnTo>
                  <a:pt x="177800" y="50800"/>
                </a:lnTo>
                <a:cubicBezTo>
                  <a:pt x="177800" y="57785"/>
                  <a:pt x="183515" y="63500"/>
                  <a:pt x="190500" y="63500"/>
                </a:cubicBezTo>
                <a:lnTo>
                  <a:pt x="215900" y="63500"/>
                </a:lnTo>
                <a:cubicBezTo>
                  <a:pt x="222885" y="63500"/>
                  <a:pt x="228600" y="57785"/>
                  <a:pt x="228600" y="50800"/>
                </a:cubicBezTo>
                <a:lnTo>
                  <a:pt x="228600" y="0"/>
                </a:lnTo>
                <a:lnTo>
                  <a:pt x="254000" y="0"/>
                </a:lnTo>
                <a:cubicBezTo>
                  <a:pt x="282019" y="0"/>
                  <a:pt x="304800" y="22781"/>
                  <a:pt x="304800" y="50800"/>
                </a:cubicBezTo>
                <a:lnTo>
                  <a:pt x="304800" y="152400"/>
                </a:lnTo>
                <a:cubicBezTo>
                  <a:pt x="304800" y="156766"/>
                  <a:pt x="304244" y="161052"/>
                  <a:pt x="303213" y="165100"/>
                </a:cubicBezTo>
                <a:lnTo>
                  <a:pt x="103188" y="165100"/>
                </a:lnTo>
                <a:cubicBezTo>
                  <a:pt x="102156" y="161052"/>
                  <a:pt x="101600" y="156766"/>
                  <a:pt x="101600" y="152400"/>
                </a:cubicBezTo>
                <a:lnTo>
                  <a:pt x="101600" y="50800"/>
                </a:lnTo>
                <a:cubicBezTo>
                  <a:pt x="101600" y="22781"/>
                  <a:pt x="124381" y="0"/>
                  <a:pt x="152400" y="0"/>
                </a:cubicBezTo>
                <a:lnTo>
                  <a:pt x="177800" y="0"/>
                </a:lnTo>
                <a:close/>
                <a:moveTo>
                  <a:pt x="254000" y="406400"/>
                </a:moveTo>
                <a:cubicBezTo>
                  <a:pt x="245110" y="406400"/>
                  <a:pt x="236696" y="404098"/>
                  <a:pt x="229394" y="400050"/>
                </a:cubicBezTo>
                <a:cubicBezTo>
                  <a:pt x="236934" y="386953"/>
                  <a:pt x="241300" y="371793"/>
                  <a:pt x="241300" y="355600"/>
                </a:cubicBezTo>
                <a:lnTo>
                  <a:pt x="241300" y="254000"/>
                </a:lnTo>
                <a:cubicBezTo>
                  <a:pt x="241300" y="237808"/>
                  <a:pt x="236934" y="222647"/>
                  <a:pt x="229394" y="209550"/>
                </a:cubicBezTo>
                <a:cubicBezTo>
                  <a:pt x="236696" y="205502"/>
                  <a:pt x="245031" y="203200"/>
                  <a:pt x="254000" y="203200"/>
                </a:cubicBezTo>
                <a:lnTo>
                  <a:pt x="279400" y="203200"/>
                </a:lnTo>
                <a:lnTo>
                  <a:pt x="279400" y="254000"/>
                </a:lnTo>
                <a:cubicBezTo>
                  <a:pt x="279400" y="260985"/>
                  <a:pt x="285115" y="266700"/>
                  <a:pt x="292100" y="266700"/>
                </a:cubicBezTo>
                <a:lnTo>
                  <a:pt x="317500" y="266700"/>
                </a:lnTo>
                <a:cubicBezTo>
                  <a:pt x="324485" y="266700"/>
                  <a:pt x="330200" y="260985"/>
                  <a:pt x="330200" y="254000"/>
                </a:cubicBezTo>
                <a:lnTo>
                  <a:pt x="330200" y="203200"/>
                </a:lnTo>
                <a:lnTo>
                  <a:pt x="355600" y="203200"/>
                </a:lnTo>
                <a:cubicBezTo>
                  <a:pt x="383619" y="203200"/>
                  <a:pt x="406400" y="225981"/>
                  <a:pt x="406400" y="254000"/>
                </a:cubicBezTo>
                <a:lnTo>
                  <a:pt x="406400" y="355600"/>
                </a:lnTo>
                <a:cubicBezTo>
                  <a:pt x="406400" y="383619"/>
                  <a:pt x="383619" y="406400"/>
                  <a:pt x="355600" y="406400"/>
                </a:cubicBezTo>
                <a:lnTo>
                  <a:pt x="254000" y="406400"/>
                </a:lnTo>
                <a:close/>
                <a:moveTo>
                  <a:pt x="0" y="254000"/>
                </a:moveTo>
                <a:cubicBezTo>
                  <a:pt x="0" y="225981"/>
                  <a:pt x="22781" y="203200"/>
                  <a:pt x="50800" y="203200"/>
                </a:cubicBezTo>
                <a:lnTo>
                  <a:pt x="76200" y="203200"/>
                </a:lnTo>
                <a:lnTo>
                  <a:pt x="76200" y="254000"/>
                </a:lnTo>
                <a:cubicBezTo>
                  <a:pt x="76200" y="260985"/>
                  <a:pt x="81915" y="266700"/>
                  <a:pt x="88900" y="266700"/>
                </a:cubicBezTo>
                <a:lnTo>
                  <a:pt x="114300" y="266700"/>
                </a:lnTo>
                <a:cubicBezTo>
                  <a:pt x="121285" y="266700"/>
                  <a:pt x="127000" y="260985"/>
                  <a:pt x="127000" y="254000"/>
                </a:cubicBezTo>
                <a:lnTo>
                  <a:pt x="127000" y="203200"/>
                </a:lnTo>
                <a:lnTo>
                  <a:pt x="152400" y="203200"/>
                </a:lnTo>
                <a:cubicBezTo>
                  <a:pt x="180419" y="203200"/>
                  <a:pt x="203200" y="225981"/>
                  <a:pt x="203200" y="254000"/>
                </a:cubicBezTo>
                <a:lnTo>
                  <a:pt x="203200" y="355600"/>
                </a:lnTo>
                <a:cubicBezTo>
                  <a:pt x="203200" y="383619"/>
                  <a:pt x="180419" y="406400"/>
                  <a:pt x="1524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25400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2159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5S Méthodologie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730500"/>
            <a:ext cx="660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Seiri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(Trier) — éliminer l'inutile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Seiton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(Ranger) — place pour chaque chose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Seiso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(Nettoyer) — maintenir la propreté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Seiketsu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(Standardiser) — rendre systématique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Shitsuke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(S'impliquer) — discipliner et pérenniser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9685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36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2308" y="181372"/>
                </a:moveTo>
                <a:cubicBezTo>
                  <a:pt x="62865" y="107553"/>
                  <a:pt x="126444" y="50800"/>
                  <a:pt x="203200" y="50800"/>
                </a:cubicBezTo>
                <a:cubicBezTo>
                  <a:pt x="245269" y="50800"/>
                  <a:pt x="283369" y="67866"/>
                  <a:pt x="310991" y="95409"/>
                </a:cubicBezTo>
                <a:cubicBezTo>
                  <a:pt x="311150" y="95568"/>
                  <a:pt x="311309" y="95726"/>
                  <a:pt x="311468" y="95885"/>
                </a:cubicBezTo>
                <a:lnTo>
                  <a:pt x="317500" y="101600"/>
                </a:lnTo>
                <a:lnTo>
                  <a:pt x="279479" y="101600"/>
                </a:lnTo>
                <a:cubicBezTo>
                  <a:pt x="265430" y="101600"/>
                  <a:pt x="254079" y="112951"/>
                  <a:pt x="254079" y="127000"/>
                </a:cubicBezTo>
                <a:cubicBezTo>
                  <a:pt x="254079" y="141049"/>
                  <a:pt x="265430" y="152400"/>
                  <a:pt x="279479" y="152400"/>
                </a:cubicBezTo>
                <a:lnTo>
                  <a:pt x="381079" y="152400"/>
                </a:lnTo>
                <a:cubicBezTo>
                  <a:pt x="395129" y="152400"/>
                  <a:pt x="406479" y="141049"/>
                  <a:pt x="406479" y="127000"/>
                </a:cubicBezTo>
                <a:lnTo>
                  <a:pt x="406479" y="25400"/>
                </a:lnTo>
                <a:cubicBezTo>
                  <a:pt x="406479" y="11351"/>
                  <a:pt x="395129" y="0"/>
                  <a:pt x="381079" y="0"/>
                </a:cubicBezTo>
                <a:cubicBezTo>
                  <a:pt x="367030" y="0"/>
                  <a:pt x="355679" y="11351"/>
                  <a:pt x="355679" y="25400"/>
                </a:cubicBezTo>
                <a:lnTo>
                  <a:pt x="355679" y="67786"/>
                </a:lnTo>
                <a:lnTo>
                  <a:pt x="346710" y="59293"/>
                </a:lnTo>
                <a:cubicBezTo>
                  <a:pt x="309959" y="22701"/>
                  <a:pt x="259159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lose/>
                <a:moveTo>
                  <a:pt x="404336" y="232172"/>
                </a:moveTo>
                <a:cubicBezTo>
                  <a:pt x="406321" y="218281"/>
                  <a:pt x="396637" y="205423"/>
                  <a:pt x="382826" y="203438"/>
                </a:cubicBezTo>
                <a:cubicBezTo>
                  <a:pt x="369014" y="201454"/>
                  <a:pt x="356076" y="211138"/>
                  <a:pt x="354092" y="224949"/>
                </a:cubicBezTo>
                <a:cubicBezTo>
                  <a:pt x="343535" y="298768"/>
                  <a:pt x="279956" y="355521"/>
                  <a:pt x="203200" y="355521"/>
                </a:cubicBezTo>
                <a:cubicBezTo>
                  <a:pt x="161131" y="355521"/>
                  <a:pt x="123031" y="338455"/>
                  <a:pt x="95409" y="310912"/>
                </a:cubicBezTo>
                <a:cubicBezTo>
                  <a:pt x="95250" y="310753"/>
                  <a:pt x="95091" y="310594"/>
                  <a:pt x="94932" y="310436"/>
                </a:cubicBezTo>
                <a:lnTo>
                  <a:pt x="88900" y="304721"/>
                </a:lnTo>
                <a:lnTo>
                  <a:pt x="126921" y="304721"/>
                </a:lnTo>
                <a:cubicBezTo>
                  <a:pt x="140970" y="304721"/>
                  <a:pt x="152321" y="293370"/>
                  <a:pt x="152321" y="279321"/>
                </a:cubicBezTo>
                <a:cubicBezTo>
                  <a:pt x="152321" y="265271"/>
                  <a:pt x="140970" y="253921"/>
                  <a:pt x="126921" y="253921"/>
                </a:cubicBezTo>
                <a:lnTo>
                  <a:pt x="25400" y="254000"/>
                </a:lnTo>
                <a:cubicBezTo>
                  <a:pt x="18653" y="254000"/>
                  <a:pt x="12144" y="256699"/>
                  <a:pt x="7382" y="261541"/>
                </a:cubicBezTo>
                <a:cubicBezTo>
                  <a:pt x="2619" y="266383"/>
                  <a:pt x="-79" y="272812"/>
                  <a:pt x="0" y="279638"/>
                </a:cubicBezTo>
                <a:lnTo>
                  <a:pt x="794" y="380444"/>
                </a:lnTo>
                <a:cubicBezTo>
                  <a:pt x="873" y="394494"/>
                  <a:pt x="12383" y="405765"/>
                  <a:pt x="26432" y="405606"/>
                </a:cubicBezTo>
                <a:cubicBezTo>
                  <a:pt x="40481" y="405448"/>
                  <a:pt x="51753" y="394017"/>
                  <a:pt x="51594" y="379968"/>
                </a:cubicBezTo>
                <a:lnTo>
                  <a:pt x="51276" y="339090"/>
                </a:lnTo>
                <a:lnTo>
                  <a:pt x="59769" y="347107"/>
                </a:lnTo>
                <a:cubicBezTo>
                  <a:pt x="96520" y="383699"/>
                  <a:pt x="147241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1" name="Text 9"/>
          <p:cNvSpPr/>
          <p:nvPr/>
        </p:nvSpPr>
        <p:spPr>
          <a:xfrm>
            <a:off x="9207500" y="2159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Kaizen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2730500"/>
            <a:ext cx="660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Philosophie d'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amélioration continue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 de petits changements constants. Implique tous les employés — du leadership aux opérateurs. Chaque suggestion compte.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Fonctionne main dans la main avec le 5S pour créer une culture d'excellence opérationnelle durable.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3340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6000" y="552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14300" y="177800"/>
                </a:moveTo>
                <a:cubicBezTo>
                  <a:pt x="128349" y="177800"/>
                  <a:pt x="139700" y="189151"/>
                  <a:pt x="139700" y="203200"/>
                </a:cubicBezTo>
                <a:lnTo>
                  <a:pt x="139700" y="254000"/>
                </a:lnTo>
                <a:cubicBezTo>
                  <a:pt x="139700" y="268049"/>
                  <a:pt x="128349" y="279400"/>
                  <a:pt x="114300" y="279400"/>
                </a:cubicBezTo>
                <a:cubicBezTo>
                  <a:pt x="100251" y="279400"/>
                  <a:pt x="88900" y="268049"/>
                  <a:pt x="88900" y="254000"/>
                </a:cubicBezTo>
                <a:lnTo>
                  <a:pt x="88900" y="203200"/>
                </a:lnTo>
                <a:cubicBezTo>
                  <a:pt x="88900" y="189151"/>
                  <a:pt x="100251" y="177800"/>
                  <a:pt x="114300" y="177800"/>
                </a:cubicBezTo>
                <a:close/>
                <a:moveTo>
                  <a:pt x="228600" y="127000"/>
                </a:moveTo>
                <a:lnTo>
                  <a:pt x="228600" y="254000"/>
                </a:lnTo>
                <a:cubicBezTo>
                  <a:pt x="228600" y="268049"/>
                  <a:pt x="217249" y="279400"/>
                  <a:pt x="203200" y="279400"/>
                </a:cubicBezTo>
                <a:cubicBezTo>
                  <a:pt x="189151" y="279400"/>
                  <a:pt x="177800" y="268049"/>
                  <a:pt x="177800" y="2540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292100" y="152400"/>
                </a:moveTo>
                <a:cubicBezTo>
                  <a:pt x="306149" y="152400"/>
                  <a:pt x="317500" y="163751"/>
                  <a:pt x="317500" y="177800"/>
                </a:cubicBezTo>
                <a:lnTo>
                  <a:pt x="317500" y="254000"/>
                </a:lnTo>
                <a:cubicBezTo>
                  <a:pt x="317500" y="268049"/>
                  <a:pt x="306149" y="279400"/>
                  <a:pt x="292100" y="279400"/>
                </a:cubicBezTo>
                <a:cubicBezTo>
                  <a:pt x="278051" y="279400"/>
                  <a:pt x="266700" y="268049"/>
                  <a:pt x="266700" y="254000"/>
                </a:cubicBezTo>
                <a:lnTo>
                  <a:pt x="266700" y="177800"/>
                </a:lnTo>
                <a:cubicBezTo>
                  <a:pt x="266700" y="163751"/>
                  <a:pt x="278051" y="152400"/>
                  <a:pt x="292100" y="152400"/>
                </a:cubicBezTo>
                <a:close/>
                <a:moveTo>
                  <a:pt x="406400" y="76200"/>
                </a:moveTo>
                <a:lnTo>
                  <a:pt x="406400" y="254000"/>
                </a:lnTo>
                <a:cubicBezTo>
                  <a:pt x="406400" y="268049"/>
                  <a:pt x="395049" y="279400"/>
                  <a:pt x="381000" y="279400"/>
                </a:cubicBezTo>
                <a:cubicBezTo>
                  <a:pt x="366951" y="279400"/>
                  <a:pt x="355600" y="268049"/>
                  <a:pt x="355600" y="254000"/>
                </a:cubicBezTo>
                <a:lnTo>
                  <a:pt x="355600" y="76200"/>
                </a:lnTo>
                <a:cubicBezTo>
                  <a:pt x="355600" y="62151"/>
                  <a:pt x="366951" y="50800"/>
                  <a:pt x="381000" y="50800"/>
                </a:cubicBezTo>
                <a:cubicBezTo>
                  <a:pt x="395049" y="50800"/>
                  <a:pt x="406400" y="62151"/>
                  <a:pt x="406400" y="7620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5" name="Text 13"/>
          <p:cNvSpPr/>
          <p:nvPr/>
        </p:nvSpPr>
        <p:spPr>
          <a:xfrm>
            <a:off x="1587500" y="55245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Diagramme de Pareto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096000"/>
            <a:ext cx="660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Basé sur le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principe 80/20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80% des effets proviennent de 20% des causes.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 les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"vital few"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causes responsables de la majorité des problèmes. Permet de prioriser les efforts là où l'impact sera maximal.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53340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10600" y="5524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43272" y="112316"/>
                </a:moveTo>
                <a:cubicBezTo>
                  <a:pt x="174387" y="86122"/>
                  <a:pt x="216376" y="63500"/>
                  <a:pt x="266700" y="63500"/>
                </a:cubicBezTo>
                <a:cubicBezTo>
                  <a:pt x="317024" y="63500"/>
                  <a:pt x="359013" y="86122"/>
                  <a:pt x="390128" y="112316"/>
                </a:cubicBezTo>
                <a:cubicBezTo>
                  <a:pt x="421164" y="138509"/>
                  <a:pt x="443230" y="169783"/>
                  <a:pt x="454422" y="191532"/>
                </a:cubicBezTo>
                <a:cubicBezTo>
                  <a:pt x="458153" y="198834"/>
                  <a:pt x="458153" y="207486"/>
                  <a:pt x="454422" y="214789"/>
                </a:cubicBezTo>
                <a:cubicBezTo>
                  <a:pt x="443230" y="236538"/>
                  <a:pt x="421164" y="267811"/>
                  <a:pt x="390128" y="294005"/>
                </a:cubicBezTo>
                <a:cubicBezTo>
                  <a:pt x="359013" y="320278"/>
                  <a:pt x="317103" y="342821"/>
                  <a:pt x="266700" y="342821"/>
                </a:cubicBezTo>
                <a:cubicBezTo>
                  <a:pt x="216297" y="342821"/>
                  <a:pt x="174387" y="320199"/>
                  <a:pt x="143272" y="294005"/>
                </a:cubicBezTo>
                <a:cubicBezTo>
                  <a:pt x="130413" y="283131"/>
                  <a:pt x="119063" y="271383"/>
                  <a:pt x="109379" y="259794"/>
                </a:cubicBezTo>
                <a:lnTo>
                  <a:pt x="38179" y="301308"/>
                </a:lnTo>
                <a:cubicBezTo>
                  <a:pt x="28258" y="307102"/>
                  <a:pt x="15637" y="305514"/>
                  <a:pt x="7461" y="297418"/>
                </a:cubicBezTo>
                <a:cubicBezTo>
                  <a:pt x="-714" y="289322"/>
                  <a:pt x="-2381" y="276781"/>
                  <a:pt x="3254" y="266779"/>
                </a:cubicBezTo>
                <a:lnTo>
                  <a:pt x="39688" y="203200"/>
                </a:lnTo>
                <a:lnTo>
                  <a:pt x="3334" y="139621"/>
                </a:lnTo>
                <a:cubicBezTo>
                  <a:pt x="-2381" y="129619"/>
                  <a:pt x="-635" y="117078"/>
                  <a:pt x="7541" y="108982"/>
                </a:cubicBezTo>
                <a:cubicBezTo>
                  <a:pt x="15716" y="100886"/>
                  <a:pt x="28258" y="99298"/>
                  <a:pt x="38259" y="105093"/>
                </a:cubicBezTo>
                <a:lnTo>
                  <a:pt x="109458" y="146606"/>
                </a:lnTo>
                <a:cubicBezTo>
                  <a:pt x="119142" y="135017"/>
                  <a:pt x="130493" y="123269"/>
                  <a:pt x="143351" y="112395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9" name="Text 17"/>
          <p:cNvSpPr/>
          <p:nvPr/>
        </p:nvSpPr>
        <p:spPr>
          <a:xfrm>
            <a:off x="9207500" y="5524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Diagramme d'Ishikawa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6096000"/>
            <a:ext cx="660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Cartographie visuelle des causes via les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Machines | Méthodes | Matériaux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d'œuvre | Milieu | Mesures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 les équipes vers des solutions structurées et complètes.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857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AEVO Innovate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0B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Value Stream Mapping, Kanban et Poka-Yoke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2540000" cy="25400"/>
          </a:xfrm>
          <a:prstGeom prst="rect">
            <a:avLst/>
          </a:prstGeom>
          <a:solidFill>
            <a:srgbClr val="0B3D3D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4737100" cy="58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42863"/>
                </a:moveTo>
                <a:cubicBezTo>
                  <a:pt x="457200" y="32951"/>
                  <a:pt x="452110" y="23753"/>
                  <a:pt x="443627" y="18574"/>
                </a:cubicBezTo>
                <a:cubicBezTo>
                  <a:pt x="435144" y="13395"/>
                  <a:pt x="424696" y="12859"/>
                  <a:pt x="415856" y="17324"/>
                </a:cubicBezTo>
                <a:lnTo>
                  <a:pt x="312093" y="69205"/>
                </a:lnTo>
                <a:lnTo>
                  <a:pt x="151894" y="15716"/>
                </a:lnTo>
                <a:cubicBezTo>
                  <a:pt x="144661" y="13305"/>
                  <a:pt x="136892" y="13841"/>
                  <a:pt x="130106" y="17234"/>
                </a:cubicBezTo>
                <a:lnTo>
                  <a:pt x="15806" y="74384"/>
                </a:lnTo>
                <a:cubicBezTo>
                  <a:pt x="6072" y="79296"/>
                  <a:pt x="0" y="89208"/>
                  <a:pt x="0" y="100013"/>
                </a:cubicBezTo>
                <a:lnTo>
                  <a:pt x="0" y="414338"/>
                </a:lnTo>
                <a:cubicBezTo>
                  <a:pt x="0" y="424249"/>
                  <a:pt x="5090" y="433447"/>
                  <a:pt x="13573" y="438626"/>
                </a:cubicBezTo>
                <a:cubicBezTo>
                  <a:pt x="22056" y="443805"/>
                  <a:pt x="32504" y="444341"/>
                  <a:pt x="41344" y="439876"/>
                </a:cubicBezTo>
                <a:lnTo>
                  <a:pt x="145018" y="387995"/>
                </a:lnTo>
                <a:lnTo>
                  <a:pt x="305217" y="441394"/>
                </a:lnTo>
                <a:cubicBezTo>
                  <a:pt x="312450" y="443805"/>
                  <a:pt x="320219" y="443270"/>
                  <a:pt x="327005" y="439876"/>
                </a:cubicBezTo>
                <a:lnTo>
                  <a:pt x="441305" y="382726"/>
                </a:lnTo>
                <a:cubicBezTo>
                  <a:pt x="450949" y="377904"/>
                  <a:pt x="457111" y="367992"/>
                  <a:pt x="457111" y="357187"/>
                </a:cubicBezTo>
                <a:lnTo>
                  <a:pt x="457111" y="42862"/>
                </a:lnTo>
                <a:close/>
                <a:moveTo>
                  <a:pt x="171450" y="336560"/>
                </a:moveTo>
                <a:lnTo>
                  <a:pt x="171450" y="82510"/>
                </a:lnTo>
                <a:lnTo>
                  <a:pt x="285750" y="120640"/>
                </a:lnTo>
                <a:lnTo>
                  <a:pt x="285750" y="374690"/>
                </a:lnTo>
                <a:lnTo>
                  <a:pt x="171450" y="33656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857500"/>
            <a:ext cx="4229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Stream Mapping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3365500"/>
            <a:ext cx="4229100" cy="12700"/>
          </a:xfrm>
          <a:prstGeom prst="rect">
            <a:avLst/>
          </a:prstGeom>
          <a:solidFill>
            <a:srgbClr val="D6D2C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556000"/>
            <a:ext cx="42291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Cartographie du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 de valeur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révélant les étapes à valeur ajoutée et non ajoutée.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Visualise le parcours complet des matériaux et de l'information, de la commande client à la livraison.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 les goulots d'étranglement, les stocks intermédiaires et les temps d'attente cachés.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53100" y="1968500"/>
            <a:ext cx="4737100" cy="58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64250" y="2222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78070" y="28575"/>
                </a:moveTo>
                <a:lnTo>
                  <a:pt x="285750" y="28575"/>
                </a:lnTo>
                <a:cubicBezTo>
                  <a:pt x="317272" y="28575"/>
                  <a:pt x="342900" y="54203"/>
                  <a:pt x="342900" y="857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64830" y="28575"/>
                </a:lnTo>
                <a:cubicBezTo>
                  <a:pt x="74652" y="11519"/>
                  <a:pt x="93137" y="0"/>
                  <a:pt x="114300" y="0"/>
                </a:cubicBezTo>
                <a:lnTo>
                  <a:pt x="228600" y="0"/>
                </a:lnTo>
                <a:cubicBezTo>
                  <a:pt x="249763" y="0"/>
                  <a:pt x="268248" y="11519"/>
                  <a:pt x="278070" y="28575"/>
                </a:cubicBezTo>
                <a:close/>
                <a:moveTo>
                  <a:pt x="221456" y="100013"/>
                </a:moveTo>
                <a:cubicBezTo>
                  <a:pt x="233333" y="100013"/>
                  <a:pt x="242888" y="90458"/>
                  <a:pt x="242888" y="78581"/>
                </a:cubicBezTo>
                <a:cubicBezTo>
                  <a:pt x="242888" y="66705"/>
                  <a:pt x="233333" y="57150"/>
                  <a:pt x="221456" y="57150"/>
                </a:cubicBezTo>
                <a:lnTo>
                  <a:pt x="121444" y="57150"/>
                </a:lnTo>
                <a:cubicBezTo>
                  <a:pt x="109567" y="57150"/>
                  <a:pt x="100013" y="66705"/>
                  <a:pt x="100013" y="78581"/>
                </a:cubicBezTo>
                <a:cubicBezTo>
                  <a:pt x="100013" y="90458"/>
                  <a:pt x="109567" y="100013"/>
                  <a:pt x="121444" y="100013"/>
                </a:cubicBezTo>
                <a:lnTo>
                  <a:pt x="221456" y="100013"/>
                </a:lnTo>
                <a:close/>
                <a:moveTo>
                  <a:pt x="114300" y="228600"/>
                </a:move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ubicBezTo>
                  <a:pt x="101496" y="257175"/>
                  <a:pt x="114300" y="244371"/>
                  <a:pt x="114300" y="228600"/>
                </a:cubicBezTo>
                <a:close/>
                <a:moveTo>
                  <a:pt x="142875" y="228600"/>
                </a:moveTo>
                <a:cubicBezTo>
                  <a:pt x="142875" y="240476"/>
                  <a:pt x="152430" y="250031"/>
                  <a:pt x="164306" y="250031"/>
                </a:cubicBezTo>
                <a:lnTo>
                  <a:pt x="264319" y="250031"/>
                </a:lnTo>
                <a:cubicBezTo>
                  <a:pt x="276195" y="250031"/>
                  <a:pt x="285750" y="240476"/>
                  <a:pt x="285750" y="228600"/>
                </a:cubicBezTo>
                <a:cubicBezTo>
                  <a:pt x="285750" y="216724"/>
                  <a:pt x="276195" y="207169"/>
                  <a:pt x="264319" y="207169"/>
                </a:cubicBezTo>
                <a:lnTo>
                  <a:pt x="164306" y="207169"/>
                </a:lnTo>
                <a:cubicBezTo>
                  <a:pt x="152430" y="207169"/>
                  <a:pt x="142875" y="216724"/>
                  <a:pt x="142875" y="228600"/>
                </a:cubicBezTo>
                <a:close/>
                <a:moveTo>
                  <a:pt x="142875" y="342900"/>
                </a:moveTo>
                <a:cubicBezTo>
                  <a:pt x="142875" y="354776"/>
                  <a:pt x="152430" y="364331"/>
                  <a:pt x="164306" y="364331"/>
                </a:cubicBezTo>
                <a:lnTo>
                  <a:pt x="264319" y="364331"/>
                </a:lnTo>
                <a:cubicBezTo>
                  <a:pt x="276195" y="364331"/>
                  <a:pt x="285750" y="354776"/>
                  <a:pt x="285750" y="342900"/>
                </a:cubicBezTo>
                <a:cubicBezTo>
                  <a:pt x="285750" y="331024"/>
                  <a:pt x="276195" y="321469"/>
                  <a:pt x="264319" y="321469"/>
                </a:cubicBezTo>
                <a:lnTo>
                  <a:pt x="164306" y="321469"/>
                </a:lnTo>
                <a:cubicBezTo>
                  <a:pt x="152430" y="321469"/>
                  <a:pt x="142875" y="331024"/>
                  <a:pt x="142875" y="342900"/>
                </a:cubicBezTo>
                <a:close/>
                <a:moveTo>
                  <a:pt x="85725" y="371475"/>
                </a:moveTo>
                <a:cubicBezTo>
                  <a:pt x="101496" y="371475"/>
                  <a:pt x="114300" y="358671"/>
                  <a:pt x="114300" y="342900"/>
                </a:cubicBezTo>
                <a:cubicBezTo>
                  <a:pt x="114300" y="327129"/>
                  <a:pt x="101496" y="314325"/>
                  <a:pt x="85725" y="314325"/>
                </a:cubicBezTo>
                <a:cubicBezTo>
                  <a:pt x="69954" y="314325"/>
                  <a:pt x="57150" y="327129"/>
                  <a:pt x="57150" y="342900"/>
                </a:cubicBezTo>
                <a:cubicBezTo>
                  <a:pt x="57150" y="358671"/>
                  <a:pt x="69954" y="371475"/>
                  <a:pt x="85725" y="371475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2" name="Text 10"/>
          <p:cNvSpPr/>
          <p:nvPr/>
        </p:nvSpPr>
        <p:spPr>
          <a:xfrm>
            <a:off x="6007100" y="2857500"/>
            <a:ext cx="4229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Kanban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7100" y="3365500"/>
            <a:ext cx="4229100" cy="12700"/>
          </a:xfrm>
          <a:prstGeom prst="rect">
            <a:avLst/>
          </a:prstGeom>
          <a:solidFill>
            <a:srgbClr val="D6D2CC"/>
          </a:solidFill>
          <a:ln/>
        </p:spPr>
      </p:sp>
      <p:sp>
        <p:nvSpPr>
          <p:cNvPr id="14" name="Text 12"/>
          <p:cNvSpPr/>
          <p:nvPr/>
        </p:nvSpPr>
        <p:spPr>
          <a:xfrm>
            <a:off x="6007100" y="3556000"/>
            <a:ext cx="42291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Système de production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tirée par la demande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réelle qui contrôle les encours.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 signal visuel (carte, bac, tableau) déclenche la production ou le réapprovisionnement uniquement quand nécessaire.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Minimise la surproduction et optimise le flux continu.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44200" y="1968500"/>
            <a:ext cx="4737100" cy="58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982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7" name="Text 15"/>
          <p:cNvSpPr/>
          <p:nvPr/>
        </p:nvSpPr>
        <p:spPr>
          <a:xfrm>
            <a:off x="10998200" y="2857500"/>
            <a:ext cx="4229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Poka-Yoke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98200" y="3365500"/>
            <a:ext cx="4229100" cy="12700"/>
          </a:xfrm>
          <a:prstGeom prst="rect">
            <a:avLst/>
          </a:prstGeom>
          <a:solidFill>
            <a:srgbClr val="D6D2CC"/>
          </a:solidFill>
          <a:ln/>
        </p:spPr>
      </p:sp>
      <p:sp>
        <p:nvSpPr>
          <p:cNvPr id="19" name="Text 17"/>
          <p:cNvSpPr/>
          <p:nvPr/>
        </p:nvSpPr>
        <p:spPr>
          <a:xfrm>
            <a:off x="10998200" y="3556000"/>
            <a:ext cx="42291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Mécanismes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anti-erreur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intégrés au processus pour prévenir les défauts avant qu'ils ne surviennent.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Conception qui rend l'erreur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physiquement impossible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ou immédiatement détectable.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 : connecteurs asymétriques, capteurs de détection, checklists obligatoires.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gtmiipqfkyka/mnt/agents/output/lean-six-sigma/images/3_Businessman_overlooking_city_skyline.png">    </p:cNvPr>
          <p:cNvPicPr>
            <a:picLocks noChangeAspect="1"/>
          </p:cNvPicPr>
          <p:nvPr/>
        </p:nvPicPr>
        <p:blipFill>
          <a:blip r:embed="rId1"/>
          <a:srcRect l="123" r="12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2E2E"/>
              </a:gs>
              <a:gs pos="60000">
                <a:srgbClr val="0F2E2E">
                  <a:alpha val="93000"/>
                </a:srgbClr>
              </a:gs>
              <a:gs pos="100000">
                <a:srgbClr val="0F2E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>
                    <a:alpha val="9412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762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Certification &amp; Impact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 niveaux de certification, les retours sur investissement et les applications sectorielles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0B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 Niveaux de Ceinture (Belts)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2540000" cy="25400"/>
          </a:xfrm>
          <a:prstGeom prst="rect">
            <a:avLst/>
          </a:prstGeom>
          <a:solidFill>
            <a:srgbClr val="0B3D3D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5842000"/>
        </p:xfrm>
        <a:graphic>
          <a:graphicData uri="http://schemas.openxmlformats.org/drawingml/2006/table">
            <a:tbl>
              <a:tblPr/>
              <a:tblGrid>
                <a:gridCol w="2651760"/>
                <a:gridCol w="5156200"/>
                <a:gridCol w="3977640"/>
                <a:gridCol w="2946400"/>
              </a:tblGrid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Niveau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Rôle &amp; Responsabilités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Durée Formation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Revenu Moyen (USA)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3D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White Belt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Comprendre les concepts de base, identifier les opportunités d'amélioration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 8 heures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Yellow Belt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Participer activement aux projets, appliquer les outils essentiels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 3 jours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Green Belt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Piloter des projets PME, analyser des données, encadrer les White/Yellow Belts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 5 jours (+ projet)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118 000 $/an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Black Belt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Projets complexes transverses, analyses statistiques avancées, mentorat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 5 jours (+ projet)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135 400 $/an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Master Black Belt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Définir la stratégie organisationnelle, coacher les Black/Green Belts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 3 jours (+ projets)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150 000+ $/an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064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 certifications sont généralement valables 3 ans. Un projet pratique est requis pour Green Belt, Black Belt et Master Black Belt.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8509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Kaizen.com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UTSA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1270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0B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ROI Mesurable et Applications Sectorielles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2540000" cy="25400"/>
          </a:xfrm>
          <a:prstGeom prst="rect">
            <a:avLst/>
          </a:prstGeom>
          <a:solidFill>
            <a:srgbClr val="0B3D3D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457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20955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8A26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243 838 $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016000" y="30480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économie moyenne par projet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42000" y="1968500"/>
            <a:ext cx="457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0" y="20955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8A26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4:1 à 10:1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096000" y="30480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ratio ROI typique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22000" y="1968500"/>
            <a:ext cx="457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76000" y="20955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8A26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13.9B $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11176000" y="30480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économies GE en 10 ans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2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RÉSULTATS SECTORIELS CONCRETS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381500"/>
            <a:ext cx="14732000" cy="12700"/>
          </a:xfrm>
          <a:prstGeom prst="rect">
            <a:avLst/>
          </a:prstGeom>
          <a:solidFill>
            <a:srgbClr val="D6D2CC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4635500"/>
            <a:ext cx="349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3775" y="4826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88900" y="44450"/>
                </a:moveTo>
                <a:cubicBezTo>
                  <a:pt x="88900" y="19933"/>
                  <a:pt x="108833" y="0"/>
                  <a:pt x="133350" y="0"/>
                </a:cubicBezTo>
                <a:lnTo>
                  <a:pt x="266700" y="0"/>
                </a:lnTo>
                <a:cubicBezTo>
                  <a:pt x="291217" y="0"/>
                  <a:pt x="311150" y="19933"/>
                  <a:pt x="311150" y="44450"/>
                </a:cubicBezTo>
                <a:lnTo>
                  <a:pt x="311150" y="88900"/>
                </a:lnTo>
                <a:lnTo>
                  <a:pt x="355600" y="88900"/>
                </a:lnTo>
                <a:cubicBezTo>
                  <a:pt x="380117" y="88900"/>
                  <a:pt x="400050" y="108833"/>
                  <a:pt x="400050" y="133350"/>
                </a:cubicBezTo>
                <a:lnTo>
                  <a:pt x="400050" y="311150"/>
                </a:lnTo>
                <a:cubicBezTo>
                  <a:pt x="400050" y="335667"/>
                  <a:pt x="380117" y="355600"/>
                  <a:pt x="35560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33350"/>
                </a:lnTo>
                <a:cubicBezTo>
                  <a:pt x="0" y="108833"/>
                  <a:pt x="19933" y="88900"/>
                  <a:pt x="44450" y="88900"/>
                </a:cubicBezTo>
                <a:lnTo>
                  <a:pt x="88900" y="88900"/>
                </a:lnTo>
                <a:lnTo>
                  <a:pt x="88900" y="44450"/>
                </a:lnTo>
                <a:close/>
                <a:moveTo>
                  <a:pt x="188913" y="244475"/>
                </a:moveTo>
                <a:cubicBezTo>
                  <a:pt x="176619" y="244475"/>
                  <a:pt x="166688" y="254407"/>
                  <a:pt x="166688" y="266700"/>
                </a:cubicBezTo>
                <a:lnTo>
                  <a:pt x="166688" y="322263"/>
                </a:lnTo>
                <a:lnTo>
                  <a:pt x="233363" y="322263"/>
                </a:lnTo>
                <a:lnTo>
                  <a:pt x="233363" y="266700"/>
                </a:lnTo>
                <a:cubicBezTo>
                  <a:pt x="233363" y="254407"/>
                  <a:pt x="223431" y="244475"/>
                  <a:pt x="211138" y="244475"/>
                </a:cubicBezTo>
                <a:lnTo>
                  <a:pt x="188913" y="244475"/>
                </a:lnTo>
                <a:close/>
                <a:moveTo>
                  <a:pt x="88900" y="255587"/>
                </a:moveTo>
                <a:lnTo>
                  <a:pt x="88900" y="233363"/>
                </a:lnTo>
                <a:cubicBezTo>
                  <a:pt x="88900" y="227251"/>
                  <a:pt x="83899" y="222250"/>
                  <a:pt x="77788" y="222250"/>
                </a:cubicBezTo>
                <a:lnTo>
                  <a:pt x="55563" y="222250"/>
                </a:lnTo>
                <a:cubicBezTo>
                  <a:pt x="49451" y="222250"/>
                  <a:pt x="44450" y="227251"/>
                  <a:pt x="44450" y="233363"/>
                </a:cubicBezTo>
                <a:lnTo>
                  <a:pt x="44450" y="255587"/>
                </a:lnTo>
                <a:cubicBezTo>
                  <a:pt x="44450" y="261699"/>
                  <a:pt x="49451" y="266700"/>
                  <a:pt x="55563" y="266700"/>
                </a:cubicBezTo>
                <a:lnTo>
                  <a:pt x="77788" y="266700"/>
                </a:lnTo>
                <a:cubicBezTo>
                  <a:pt x="83899" y="266700"/>
                  <a:pt x="88900" y="261699"/>
                  <a:pt x="88900" y="255587"/>
                </a:cubicBezTo>
                <a:close/>
                <a:moveTo>
                  <a:pt x="77788" y="177800"/>
                </a:moveTo>
                <a:cubicBezTo>
                  <a:pt x="83899" y="177800"/>
                  <a:pt x="88900" y="172799"/>
                  <a:pt x="88900" y="166688"/>
                </a:cubicBezTo>
                <a:lnTo>
                  <a:pt x="88900" y="144463"/>
                </a:lnTo>
                <a:cubicBezTo>
                  <a:pt x="88900" y="138351"/>
                  <a:pt x="83899" y="133350"/>
                  <a:pt x="77788" y="133350"/>
                </a:cubicBezTo>
                <a:lnTo>
                  <a:pt x="55563" y="133350"/>
                </a:lnTo>
                <a:cubicBezTo>
                  <a:pt x="49451" y="133350"/>
                  <a:pt x="44450" y="138351"/>
                  <a:pt x="44450" y="144463"/>
                </a:cubicBezTo>
                <a:lnTo>
                  <a:pt x="44450" y="166688"/>
                </a:lnTo>
                <a:cubicBezTo>
                  <a:pt x="44450" y="172799"/>
                  <a:pt x="49451" y="177800"/>
                  <a:pt x="55563" y="177800"/>
                </a:cubicBezTo>
                <a:lnTo>
                  <a:pt x="77788" y="177800"/>
                </a:lnTo>
                <a:close/>
                <a:moveTo>
                  <a:pt x="355600" y="255587"/>
                </a:moveTo>
                <a:lnTo>
                  <a:pt x="355600" y="233363"/>
                </a:lnTo>
                <a:cubicBezTo>
                  <a:pt x="355600" y="227251"/>
                  <a:pt x="350599" y="222250"/>
                  <a:pt x="344488" y="222250"/>
                </a:cubicBezTo>
                <a:lnTo>
                  <a:pt x="322263" y="222250"/>
                </a:lnTo>
                <a:cubicBezTo>
                  <a:pt x="316151" y="222250"/>
                  <a:pt x="311150" y="227251"/>
                  <a:pt x="311150" y="233363"/>
                </a:cubicBezTo>
                <a:lnTo>
                  <a:pt x="311150" y="255587"/>
                </a:lnTo>
                <a:cubicBezTo>
                  <a:pt x="311150" y="261699"/>
                  <a:pt x="316151" y="266700"/>
                  <a:pt x="322263" y="266700"/>
                </a:cubicBezTo>
                <a:lnTo>
                  <a:pt x="344488" y="266700"/>
                </a:lnTo>
                <a:cubicBezTo>
                  <a:pt x="350599" y="266700"/>
                  <a:pt x="355600" y="261699"/>
                  <a:pt x="355600" y="255587"/>
                </a:cubicBezTo>
                <a:close/>
                <a:moveTo>
                  <a:pt x="344488" y="177800"/>
                </a:moveTo>
                <a:cubicBezTo>
                  <a:pt x="350599" y="177800"/>
                  <a:pt x="355600" y="172799"/>
                  <a:pt x="355600" y="166688"/>
                </a:cubicBezTo>
                <a:lnTo>
                  <a:pt x="355600" y="144463"/>
                </a:lnTo>
                <a:cubicBezTo>
                  <a:pt x="355600" y="138351"/>
                  <a:pt x="350599" y="133350"/>
                  <a:pt x="344488" y="133350"/>
                </a:cubicBezTo>
                <a:lnTo>
                  <a:pt x="322263" y="133350"/>
                </a:lnTo>
                <a:cubicBezTo>
                  <a:pt x="316151" y="133350"/>
                  <a:pt x="311150" y="138351"/>
                  <a:pt x="311150" y="144463"/>
                </a:cubicBezTo>
                <a:lnTo>
                  <a:pt x="311150" y="166688"/>
                </a:lnTo>
                <a:cubicBezTo>
                  <a:pt x="311150" y="172799"/>
                  <a:pt x="316151" y="177800"/>
                  <a:pt x="322263" y="177800"/>
                </a:cubicBezTo>
                <a:lnTo>
                  <a:pt x="344488" y="177800"/>
                </a:lnTo>
                <a:close/>
                <a:moveTo>
                  <a:pt x="183356" y="72231"/>
                </a:moveTo>
                <a:lnTo>
                  <a:pt x="183356" y="94456"/>
                </a:lnTo>
                <a:lnTo>
                  <a:pt x="161131" y="94456"/>
                </a:lnTo>
                <a:cubicBezTo>
                  <a:pt x="155019" y="94456"/>
                  <a:pt x="150019" y="99457"/>
                  <a:pt x="150019" y="105569"/>
                </a:cubicBezTo>
                <a:lnTo>
                  <a:pt x="150019" y="116681"/>
                </a:lnTo>
                <a:cubicBezTo>
                  <a:pt x="150019" y="122793"/>
                  <a:pt x="155019" y="127794"/>
                  <a:pt x="161131" y="127794"/>
                </a:cubicBezTo>
                <a:lnTo>
                  <a:pt x="183356" y="127794"/>
                </a:lnTo>
                <a:lnTo>
                  <a:pt x="183356" y="150019"/>
                </a:lnTo>
                <a:cubicBezTo>
                  <a:pt x="183356" y="156131"/>
                  <a:pt x="188357" y="161131"/>
                  <a:pt x="194469" y="161131"/>
                </a:cubicBezTo>
                <a:lnTo>
                  <a:pt x="205581" y="161131"/>
                </a:lnTo>
                <a:cubicBezTo>
                  <a:pt x="211693" y="161131"/>
                  <a:pt x="216694" y="156131"/>
                  <a:pt x="216694" y="150019"/>
                </a:cubicBezTo>
                <a:lnTo>
                  <a:pt x="216694" y="127794"/>
                </a:lnTo>
                <a:lnTo>
                  <a:pt x="238919" y="127794"/>
                </a:lnTo>
                <a:cubicBezTo>
                  <a:pt x="245031" y="127794"/>
                  <a:pt x="250031" y="122793"/>
                  <a:pt x="250031" y="116681"/>
                </a:cubicBezTo>
                <a:lnTo>
                  <a:pt x="250031" y="105569"/>
                </a:lnTo>
                <a:cubicBezTo>
                  <a:pt x="250031" y="99457"/>
                  <a:pt x="245031" y="94456"/>
                  <a:pt x="238919" y="94456"/>
                </a:cubicBezTo>
                <a:lnTo>
                  <a:pt x="216694" y="94456"/>
                </a:lnTo>
                <a:lnTo>
                  <a:pt x="216694" y="72231"/>
                </a:lnTo>
                <a:cubicBezTo>
                  <a:pt x="216694" y="66119"/>
                  <a:pt x="211693" y="61119"/>
                  <a:pt x="205581" y="61119"/>
                </a:cubicBezTo>
                <a:lnTo>
                  <a:pt x="194469" y="61119"/>
                </a:lnTo>
                <a:cubicBezTo>
                  <a:pt x="188357" y="61119"/>
                  <a:pt x="183356" y="66119"/>
                  <a:pt x="183356" y="72231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308600"/>
            <a:ext cx="298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Santé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7150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Réduction des délais d'attente aux urgences de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 à 35 min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(Singapour)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Satisfaction patient +25%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08500" y="4635500"/>
            <a:ext cx="349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62500" y="482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88843" y="14030"/>
                </a:moveTo>
                <a:cubicBezTo>
                  <a:pt x="182037" y="10140"/>
                  <a:pt x="173633" y="10140"/>
                  <a:pt x="166757" y="14030"/>
                </a:cubicBezTo>
                <a:lnTo>
                  <a:pt x="11182" y="102930"/>
                </a:lnTo>
                <a:cubicBezTo>
                  <a:pt x="2431" y="107930"/>
                  <a:pt x="-1875" y="118209"/>
                  <a:pt x="695" y="127933"/>
                </a:cubicBezTo>
                <a:cubicBezTo>
                  <a:pt x="3264" y="137656"/>
                  <a:pt x="12154" y="144463"/>
                  <a:pt x="22225" y="144463"/>
                </a:cubicBezTo>
                <a:lnTo>
                  <a:pt x="44450" y="144463"/>
                </a:lnTo>
                <a:lnTo>
                  <a:pt x="44450" y="288925"/>
                </a:lnTo>
                <a:lnTo>
                  <a:pt x="44450" y="288925"/>
                </a:lnTo>
                <a:lnTo>
                  <a:pt x="8890" y="315595"/>
                </a:lnTo>
                <a:cubicBezTo>
                  <a:pt x="3264" y="319762"/>
                  <a:pt x="0" y="326360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333375" y="355600"/>
                </a:lnTo>
                <a:cubicBezTo>
                  <a:pt x="345668" y="355600"/>
                  <a:pt x="355600" y="345668"/>
                  <a:pt x="355600" y="333375"/>
                </a:cubicBezTo>
                <a:cubicBezTo>
                  <a:pt x="355600" y="326360"/>
                  <a:pt x="352336" y="319762"/>
                  <a:pt x="346710" y="315595"/>
                </a:cubicBezTo>
                <a:lnTo>
                  <a:pt x="311150" y="288925"/>
                </a:lnTo>
                <a:lnTo>
                  <a:pt x="311150" y="144463"/>
                </a:lnTo>
                <a:lnTo>
                  <a:pt x="333375" y="144463"/>
                </a:lnTo>
                <a:cubicBezTo>
                  <a:pt x="343446" y="144463"/>
                  <a:pt x="352266" y="137656"/>
                  <a:pt x="354836" y="127933"/>
                </a:cubicBezTo>
                <a:cubicBezTo>
                  <a:pt x="357406" y="118209"/>
                  <a:pt x="353100" y="107930"/>
                  <a:pt x="344349" y="102930"/>
                </a:cubicBezTo>
                <a:lnTo>
                  <a:pt x="188774" y="14030"/>
                </a:lnTo>
                <a:close/>
                <a:moveTo>
                  <a:pt x="277813" y="144463"/>
                </a:moveTo>
                <a:lnTo>
                  <a:pt x="277813" y="288925"/>
                </a:lnTo>
                <a:lnTo>
                  <a:pt x="233363" y="288925"/>
                </a:lnTo>
                <a:lnTo>
                  <a:pt x="233363" y="144463"/>
                </a:lnTo>
                <a:lnTo>
                  <a:pt x="277813" y="144463"/>
                </a:lnTo>
                <a:close/>
                <a:moveTo>
                  <a:pt x="200025" y="144463"/>
                </a:moveTo>
                <a:lnTo>
                  <a:pt x="200025" y="288925"/>
                </a:lnTo>
                <a:lnTo>
                  <a:pt x="155575" y="288925"/>
                </a:lnTo>
                <a:lnTo>
                  <a:pt x="155575" y="144463"/>
                </a:lnTo>
                <a:lnTo>
                  <a:pt x="200025" y="144463"/>
                </a:lnTo>
                <a:close/>
                <a:moveTo>
                  <a:pt x="122238" y="144463"/>
                </a:moveTo>
                <a:lnTo>
                  <a:pt x="122238" y="288925"/>
                </a:lnTo>
                <a:lnTo>
                  <a:pt x="77788" y="288925"/>
                </a:lnTo>
                <a:lnTo>
                  <a:pt x="77788" y="144463"/>
                </a:lnTo>
                <a:lnTo>
                  <a:pt x="122238" y="144463"/>
                </a:lnTo>
                <a:close/>
                <a:moveTo>
                  <a:pt x="177800" y="66675"/>
                </a:moveTo>
                <a:cubicBezTo>
                  <a:pt x="190066" y="66675"/>
                  <a:pt x="200025" y="76634"/>
                  <a:pt x="200025" y="88900"/>
                </a:cubicBezTo>
                <a:cubicBezTo>
                  <a:pt x="200025" y="101166"/>
                  <a:pt x="190066" y="111125"/>
                  <a:pt x="177800" y="111125"/>
                </a:cubicBezTo>
                <a:cubicBezTo>
                  <a:pt x="165534" y="111125"/>
                  <a:pt x="155575" y="101166"/>
                  <a:pt x="155575" y="88900"/>
                </a:cubicBezTo>
                <a:cubicBezTo>
                  <a:pt x="155575" y="76634"/>
                  <a:pt x="165534" y="66675"/>
                  <a:pt x="177800" y="66675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2" name="Text 20"/>
          <p:cNvSpPr/>
          <p:nvPr/>
        </p:nvSpPr>
        <p:spPr>
          <a:xfrm>
            <a:off x="4762500" y="5308600"/>
            <a:ext cx="298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Finance / FinTech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62500" y="57150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Temps KYC réduit de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72h à 30 min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(Inde)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1,5M utilisateurs onboardés en un trimestre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55000" y="4635500"/>
            <a:ext cx="349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9000" y="482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300038"/>
                </a:lnTo>
                <a:cubicBezTo>
                  <a:pt x="0" y="318443"/>
                  <a:pt x="14932" y="333375"/>
                  <a:pt x="3333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105708"/>
                </a:lnTo>
                <a:cubicBezTo>
                  <a:pt x="355600" y="93067"/>
                  <a:pt x="342126" y="85080"/>
                  <a:pt x="331014" y="91053"/>
                </a:cubicBezTo>
                <a:lnTo>
                  <a:pt x="222250" y="149602"/>
                </a:lnTo>
                <a:lnTo>
                  <a:pt x="222250" y="105708"/>
                </a:lnTo>
                <a:cubicBezTo>
                  <a:pt x="222250" y="93067"/>
                  <a:pt x="208776" y="85080"/>
                  <a:pt x="197664" y="91053"/>
                </a:cubicBezTo>
                <a:lnTo>
                  <a:pt x="88900" y="149602"/>
                </a:lnTo>
                <a:lnTo>
                  <a:pt x="88900" y="44450"/>
                </a:lnTo>
                <a:cubicBezTo>
                  <a:pt x="88900" y="32157"/>
                  <a:pt x="78968" y="22225"/>
                  <a:pt x="66675" y="22225"/>
                </a:cubicBezTo>
                <a:lnTo>
                  <a:pt x="22225" y="22225"/>
                </a:ln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26" name="Text 24"/>
          <p:cNvSpPr/>
          <p:nvPr/>
        </p:nvSpPr>
        <p:spPr>
          <a:xfrm>
            <a:off x="8509000" y="5308600"/>
            <a:ext cx="298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Automobile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09000" y="57150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Réduction des temps d'arrêt machine de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42%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Économies :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5,3M$/an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(Europe)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001500" y="4635500"/>
            <a:ext cx="349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211050" y="4826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44450" y="66675"/>
                </a:moveTo>
                <a:cubicBezTo>
                  <a:pt x="44450" y="42158"/>
                  <a:pt x="64383" y="22225"/>
                  <a:pt x="88900" y="22225"/>
                </a:cubicBezTo>
                <a:lnTo>
                  <a:pt x="288925" y="22225"/>
                </a:lnTo>
                <a:cubicBezTo>
                  <a:pt x="313442" y="22225"/>
                  <a:pt x="333375" y="42158"/>
                  <a:pt x="333375" y="66675"/>
                </a:cubicBezTo>
                <a:lnTo>
                  <a:pt x="333375" y="88900"/>
                </a:lnTo>
                <a:lnTo>
                  <a:pt x="368588" y="88900"/>
                </a:lnTo>
                <a:cubicBezTo>
                  <a:pt x="380395" y="88900"/>
                  <a:pt x="391716" y="93553"/>
                  <a:pt x="400050" y="101888"/>
                </a:cubicBezTo>
                <a:lnTo>
                  <a:pt x="431512" y="133350"/>
                </a:lnTo>
                <a:cubicBezTo>
                  <a:pt x="439847" y="141684"/>
                  <a:pt x="444500" y="153005"/>
                  <a:pt x="444500" y="164812"/>
                </a:cubicBezTo>
                <a:lnTo>
                  <a:pt x="444500" y="266700"/>
                </a:lnTo>
                <a:cubicBezTo>
                  <a:pt x="444500" y="291217"/>
                  <a:pt x="424567" y="311150"/>
                  <a:pt x="400050" y="311150"/>
                </a:cubicBezTo>
                <a:lnTo>
                  <a:pt x="397758" y="311150"/>
                </a:lnTo>
                <a:cubicBezTo>
                  <a:pt x="390535" y="336778"/>
                  <a:pt x="366921" y="355600"/>
                  <a:pt x="338931" y="355600"/>
                </a:cubicBezTo>
                <a:cubicBezTo>
                  <a:pt x="310942" y="355600"/>
                  <a:pt x="287397" y="336778"/>
                  <a:pt x="280104" y="311150"/>
                </a:cubicBezTo>
                <a:lnTo>
                  <a:pt x="208846" y="311150"/>
                </a:lnTo>
                <a:cubicBezTo>
                  <a:pt x="201622" y="336778"/>
                  <a:pt x="178008" y="355600"/>
                  <a:pt x="150019" y="355600"/>
                </a:cubicBezTo>
                <a:cubicBezTo>
                  <a:pt x="122029" y="355600"/>
                  <a:pt x="98485" y="336778"/>
                  <a:pt x="91192" y="311150"/>
                </a:cubicBezTo>
                <a:lnTo>
                  <a:pt x="88900" y="311150"/>
                </a:lnTo>
                <a:cubicBezTo>
                  <a:pt x="64383" y="311150"/>
                  <a:pt x="44450" y="291217"/>
                  <a:pt x="44450" y="266700"/>
                </a:cubicBez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25931"/>
                  <a:pt x="0" y="216694"/>
                </a:cubicBezTo>
                <a:cubicBezTo>
                  <a:pt x="0" y="207456"/>
                  <a:pt x="7431" y="200025"/>
                  <a:pt x="16669" y="200025"/>
                </a:cubicBezTo>
                <a:lnTo>
                  <a:pt x="94456" y="200025"/>
                </a:lnTo>
                <a:cubicBezTo>
                  <a:pt x="103694" y="200025"/>
                  <a:pt x="111125" y="192594"/>
                  <a:pt x="111125" y="183356"/>
                </a:cubicBezTo>
                <a:cubicBezTo>
                  <a:pt x="111125" y="174119"/>
                  <a:pt x="103694" y="166688"/>
                  <a:pt x="94456" y="166688"/>
                </a:cubicBezTo>
                <a:lnTo>
                  <a:pt x="16669" y="166688"/>
                </a:lnTo>
                <a:cubicBezTo>
                  <a:pt x="7431" y="166688"/>
                  <a:pt x="0" y="159256"/>
                  <a:pt x="0" y="150019"/>
                </a:cubicBezTo>
                <a:cubicBezTo>
                  <a:pt x="0" y="140781"/>
                  <a:pt x="7431" y="133350"/>
                  <a:pt x="16669" y="133350"/>
                </a:cubicBezTo>
                <a:lnTo>
                  <a:pt x="138906" y="133350"/>
                </a:lnTo>
                <a:cubicBezTo>
                  <a:pt x="148144" y="133350"/>
                  <a:pt x="155575" y="125919"/>
                  <a:pt x="155575" y="116681"/>
                </a:cubicBezTo>
                <a:cubicBezTo>
                  <a:pt x="155575" y="107444"/>
                  <a:pt x="148144" y="100013"/>
                  <a:pt x="138906" y="100013"/>
                </a:cubicBezTo>
                <a:lnTo>
                  <a:pt x="16669" y="100013"/>
                </a:lnTo>
                <a:cubicBezTo>
                  <a:pt x="7431" y="100013"/>
                  <a:pt x="0" y="92581"/>
                  <a:pt x="0" y="83344"/>
                </a:cubicBezTo>
                <a:cubicBezTo>
                  <a:pt x="0" y="74106"/>
                  <a:pt x="7431" y="66675"/>
                  <a:pt x="16669" y="66675"/>
                </a:cubicBezTo>
                <a:lnTo>
                  <a:pt x="44450" y="66675"/>
                </a:lnTo>
                <a:close/>
                <a:moveTo>
                  <a:pt x="400050" y="200025"/>
                </a:moveTo>
                <a:lnTo>
                  <a:pt x="400050" y="164812"/>
                </a:lnTo>
                <a:lnTo>
                  <a:pt x="368588" y="133350"/>
                </a:lnTo>
                <a:lnTo>
                  <a:pt x="333375" y="133350"/>
                </a:lnTo>
                <a:lnTo>
                  <a:pt x="333375" y="200025"/>
                </a:lnTo>
                <a:lnTo>
                  <a:pt x="400050" y="200025"/>
                </a:lnTo>
                <a:close/>
                <a:moveTo>
                  <a:pt x="177800" y="294481"/>
                </a:moveTo>
                <a:cubicBezTo>
                  <a:pt x="177800" y="279148"/>
                  <a:pt x="165352" y="266700"/>
                  <a:pt x="150019" y="266700"/>
                </a:cubicBezTo>
                <a:cubicBezTo>
                  <a:pt x="134686" y="266700"/>
                  <a:pt x="122238" y="279148"/>
                  <a:pt x="122238" y="294481"/>
                </a:cubicBezTo>
                <a:cubicBezTo>
                  <a:pt x="122238" y="309814"/>
                  <a:pt x="134686" y="322263"/>
                  <a:pt x="150019" y="322263"/>
                </a:cubicBezTo>
                <a:cubicBezTo>
                  <a:pt x="165352" y="322263"/>
                  <a:pt x="177800" y="309814"/>
                  <a:pt x="177800" y="294481"/>
                </a:cubicBezTo>
                <a:close/>
                <a:moveTo>
                  <a:pt x="338931" y="322263"/>
                </a:moveTo>
                <a:cubicBezTo>
                  <a:pt x="354264" y="322263"/>
                  <a:pt x="366712" y="309814"/>
                  <a:pt x="366712" y="294481"/>
                </a:cubicBezTo>
                <a:cubicBezTo>
                  <a:pt x="366712" y="279148"/>
                  <a:pt x="354264" y="266700"/>
                  <a:pt x="338931" y="266700"/>
                </a:cubicBezTo>
                <a:cubicBezTo>
                  <a:pt x="323598" y="266700"/>
                  <a:pt x="311150" y="279148"/>
                  <a:pt x="311150" y="294481"/>
                </a:cubicBezTo>
                <a:cubicBezTo>
                  <a:pt x="311150" y="309814"/>
                  <a:pt x="323598" y="322263"/>
                  <a:pt x="338931" y="322263"/>
                </a:cubicBezTo>
                <a:close/>
              </a:path>
            </a:pathLst>
          </a:custGeom>
          <a:solidFill>
            <a:srgbClr val="C8A265"/>
          </a:solidFill>
          <a:ln/>
        </p:spPr>
      </p:sp>
      <p:sp>
        <p:nvSpPr>
          <p:cNvPr id="30" name="Text 28"/>
          <p:cNvSpPr/>
          <p:nvPr/>
        </p:nvSpPr>
        <p:spPr>
          <a:xfrm>
            <a:off x="12255500" y="5308600"/>
            <a:ext cx="298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B3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Logistique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255500" y="57150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Livraisons à temps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+33%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Économies carburant :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2,7M$/an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(USA)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191500"/>
            <a:ext cx="10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 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Lean Excellence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JRG Partners 2025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gtmiipqfkyka/mnt/agents/output/lean-six-sigma/images/7_16_200_Industrial_Plant_Night_Lights.png">    </p:cNvPr>
          <p:cNvPicPr>
            <a:picLocks noChangeAspect="1"/>
          </p:cNvPicPr>
          <p:nvPr/>
        </p:nvPicPr>
        <p:blipFill>
          <a:blip r:embed="rId1"/>
          <a:srcRect l="0" r="0" t="7812" b="7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2E2E">
                  <a:alpha val="60000"/>
                </a:srgbClr>
              </a:gs>
              <a:gs pos="40000">
                <a:srgbClr val="0F2E2E">
                  <a:alpha val="87000"/>
                </a:srgbClr>
              </a:gs>
              <a:gs pos="100000">
                <a:srgbClr val="0F2E2E"/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3000" y="2540000"/>
            <a:ext cx="1270000" cy="38100"/>
          </a:xfrm>
          <a:prstGeom prst="rect">
            <a:avLst/>
          </a:prstGeom>
          <a:solidFill>
            <a:srgbClr val="C8A265"/>
          </a:solidFill>
          <a:ln/>
        </p:spPr>
      </p:sp>
      <p:sp>
        <p:nvSpPr>
          <p:cNvPr id="5" name="Text 2"/>
          <p:cNvSpPr/>
          <p:nvPr/>
        </p:nvSpPr>
        <p:spPr>
          <a:xfrm>
            <a:off x="2413000" y="2794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L'EXCELLENCE OPÉRATIONNELLE EN ACTION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3810000"/>
            <a:ext cx="1016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Lean Six Sigma n'est pas une fin en soi — c'est un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état d'esprit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  <a:p>
            <a:pPr algn="ctr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Chaque processus peut être amélioré.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Chaque défaut a une cause racine identifiable.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Chaque gaspillage éliminé libère de la valeur.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6350000"/>
            <a:ext cx="254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6604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1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question n'est pas "pourquoi le faire ?" mais "pourquoi pas maintenant ?"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0" y="7366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FFFFFF">
                    <a:alpha val="3764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LEAN SIX SIGMA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 SIX SIGMA</dc:title>
  <dc:subject>LEAN SIX SIGMA</dc:subject>
  <dc:creator>Kimi</dc:creator>
  <cp:lastModifiedBy>Kimi</cp:lastModifiedBy>
  <cp:revision>1</cp:revision>
  <dcterms:created xsi:type="dcterms:W3CDTF">2026-05-06T09:55:02Z</dcterms:created>
  <dcterms:modified xsi:type="dcterms:W3CDTF">2026-05-06T09:55:02Z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{"Label":"LEAN SIX SIGMA","ContentProducer":"001191110108MACG2KBH8F10000","ProduceID":"19dfc901-1592-872c-8000-0000979cc1a5","ReservedCode1":"","ContentPropagator":"001191110108MACG2KBH8F20000","PropagateID":"19dfc901-1592-872c-8000-0000979cc1a5","ReservedCode2":""}</vt:lpwstr>
  </property>
</Properties>
</file>